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I will look at Coca-Cola financial reporting from an accounting perspective.</a:t>
            </a:r>
          </a:p>
          <a:p>
            <a:r>
              <a:t>I use only historical publicly filed SEC financial statements, not company internal accounting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Reconcile the reported GAAP income statement.</a:t>
            </a:r>
          </a:p>
          <a:p>
            <a:r>
              <a:t>Use the indirect method to reconcile consolidated earnings to operating cash flow.</a:t>
            </a:r>
          </a:p>
          <a:p>
            <a:r>
              <a:t>Connect current assets, liabilities and other comprehensive income.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Revenue: $38.7B → $47.9B (+24% cumulative).</a:t>
            </a:r>
          </a:p>
          <a:p>
            <a:r>
              <a:t>Operating income: $10.3B → $13.8B, with a FY2024 dip.</a:t>
            </a:r>
          </a:p>
          <a:p>
            <a:r>
              <a:t>Operating margin: 26.7% in 2021; 21.2% in 2024; 28.7% in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Revenue: $47.94B vs. $47.06B.</a:t>
            </a:r>
          </a:p>
          <a:p>
            <a:r>
              <a:t>Operating income: $13.76B vs. $9.99B.</a:t>
            </a:r>
          </a:p>
          <a:p>
            <a:r>
              <a:t>Other operating charges: $1.26B vs. $4.16B.</a:t>
            </a:r>
          </a:p>
          <a:p>
            <a:r>
              <a:t>This is a GAAP presentation; the charge line needs context, not an automatic normalization.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Consolidated net income: $13.14B.</a:t>
            </a:r>
          </a:p>
          <a:p>
            <a:r>
              <a:t>Operating cash flow: $7.41B.</a:t>
            </a:r>
          </a:p>
          <a:p>
            <a:r>
              <a:t>Accrual/cash conversion gap: $5.73B (NI minus CFO).</a:t>
            </a:r>
          </a:p>
          <a:p>
            <a:r>
              <a:t>Large unusual cash-related items are critical to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consolidated net income of $13.14B.</a:t>
            </a:r>
          </a:p>
          <a:p>
            <a:r>
              <a:t>Add depreciation, stock compensation, deferred taxes and other adjustment categories.</a:t>
            </a:r>
          </a:p>
          <a:p>
            <a:r>
              <a:t>Reported operating asset/liability change: −$7.21B.</a:t>
            </a:r>
          </a:p>
          <a:p>
            <a:r>
              <a:t>Reported CFO reconciles exactly to $7.41B.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2025 the fairlife contingent consideration payment is important for cash flow context.</a:t>
            </a:r>
          </a:p>
          <a:p>
            <a:r>
              <a:t>In 2024 the IRS tax-litigation deposit materially affected operating cash.</a:t>
            </a:r>
          </a:p>
          <a:p>
            <a:r>
              <a:t>A low CFO-to-earnings ratio alone does not establish financial misstatement.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Current assets: $26.00B → $31.04B.</a:t>
            </a:r>
          </a:p>
          <a:p>
            <a:r>
              <a:t>Current liabilities: $25.25B → $21.28B.</a:t>
            </a:r>
          </a:p>
          <a:p>
            <a:r>
              <a:t>Current ratio: 1.03x → 1.46x.</a:t>
            </a:r>
          </a:p>
          <a:p>
            <a:r>
              <a:t>Held-for-sale classifications affect interpretation of these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2024 FX translation OCI: −$2.89B.</a:t>
            </a:r>
          </a:p>
          <a:p>
            <a:r>
              <a:t>2025 FX translation OCI: +$2.87B.</a:t>
            </a:r>
          </a:p>
          <a:p>
            <a:r>
              <a:t>These changes illustrate why consolidated net income alone does not explain all equity movements.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Reported profit is not necessarily cash received.</a:t>
            </a:r>
          </a:p>
          <a:p>
            <a:r>
              <a:t>Source notes are essential when comparing periods affected by one-time cash events.</a:t>
            </a:r>
          </a:p>
          <a:p>
            <a:r>
              <a:t>Cross-statement reconciliation and proper definitions improve analysis reliability.</a:t>
            </a:r>
          </a:p>
          <a:p>
            <a:r>
              <a:t>This is a portfolio case study, not an audit or CPA assurance opinion.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91B23"/>
                </a:solidFill>
              </a:defRPr>
            </a:pPr>
            <a:r>
              <a:t>COCA-COLA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3293D"/>
                </a:solidFill>
              </a:defRPr>
            </a:pPr>
            <a:r>
              <a:t>Accounting &amp; Financial Reporting | 2021–2025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933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454F5C"/>
                </a:solidFill>
              </a:defRPr>
            </a:pPr>
            <a:r>
              <a:t>Shahriar Molhem  •  University of Georgia  •  Independent Undergraduate Study</a:t>
            </a:r>
          </a:p>
        </p:txBody>
      </p:sp>
      <p:sp>
        <p:nvSpPr>
          <p:cNvPr id="6" name="Oval 5"/>
          <p:cNvSpPr/>
          <p:nvPr/>
        </p:nvSpPr>
        <p:spPr>
          <a:xfrm>
            <a:off x="813816" y="2889504"/>
            <a:ext cx="109728" cy="109728"/>
          </a:xfrm>
          <a:prstGeom prst="ellipse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102412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3293D"/>
                </a:solidFill>
              </a:defRPr>
            </a:pPr>
            <a:r>
              <a:t>Today I will look at Coca-Cola financial reporting from an accounting perspective.</a:t>
            </a:r>
          </a:p>
        </p:txBody>
      </p:sp>
      <p:sp>
        <p:nvSpPr>
          <p:cNvPr id="8" name="Oval 7"/>
          <p:cNvSpPr/>
          <p:nvPr/>
        </p:nvSpPr>
        <p:spPr>
          <a:xfrm>
            <a:off x="813816" y="3675887"/>
            <a:ext cx="109728" cy="109728"/>
          </a:xfrm>
          <a:prstGeom prst="ellipse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29584"/>
            <a:ext cx="102412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3293D"/>
                </a:solidFill>
              </a:defRPr>
            </a:pPr>
            <a:r>
              <a:t>I use only historical publicly filed SEC financial statements, not company internal accounting records.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92240"/>
            <a:ext cx="7772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54F5C"/>
                </a:solidFill>
              </a:defRPr>
            </a:pPr>
            <a:r>
              <a:t>Source: Coca-Cola Company (KO), SEC FY2025 &amp; FY2023 Form 10-K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373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91B23"/>
                </a:solidFill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91B23"/>
                </a:solidFill>
              </a:defRPr>
            </a:pPr>
            <a:r>
              <a:t>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3293D"/>
                </a:solidFill>
              </a:defRPr>
            </a:pPr>
            <a:r>
              <a:t>When do earnings differ from cash?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933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454F5C"/>
                </a:solidFill>
              </a:defRPr>
            </a:pPr>
            <a:r>
              <a:t>Three financial statements • one consistent accounting story</a:t>
            </a:r>
          </a:p>
        </p:txBody>
      </p:sp>
      <p:sp>
        <p:nvSpPr>
          <p:cNvPr id="6" name="Oval 5"/>
          <p:cNvSpPr/>
          <p:nvPr/>
        </p:nvSpPr>
        <p:spPr>
          <a:xfrm>
            <a:off x="813816" y="2889504"/>
            <a:ext cx="109728" cy="109728"/>
          </a:xfrm>
          <a:prstGeom prst="ellipse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102412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3293D"/>
                </a:solidFill>
              </a:defRPr>
            </a:pPr>
            <a:r>
              <a:t>Reconcile the reported GAAP income statement.</a:t>
            </a:r>
          </a:p>
        </p:txBody>
      </p:sp>
      <p:sp>
        <p:nvSpPr>
          <p:cNvPr id="8" name="Oval 7"/>
          <p:cNvSpPr/>
          <p:nvPr/>
        </p:nvSpPr>
        <p:spPr>
          <a:xfrm>
            <a:off x="813816" y="3675887"/>
            <a:ext cx="109728" cy="109728"/>
          </a:xfrm>
          <a:prstGeom prst="ellipse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29584"/>
            <a:ext cx="102412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3293D"/>
                </a:solidFill>
              </a:defRPr>
            </a:pPr>
            <a:r>
              <a:t>Use the indirect method to reconcile consolidated earnings to operating cash flow.</a:t>
            </a:r>
          </a:p>
        </p:txBody>
      </p:sp>
      <p:sp>
        <p:nvSpPr>
          <p:cNvPr id="10" name="Oval 9"/>
          <p:cNvSpPr/>
          <p:nvPr/>
        </p:nvSpPr>
        <p:spPr>
          <a:xfrm>
            <a:off x="813816" y="4462272"/>
            <a:ext cx="109728" cy="109728"/>
          </a:xfrm>
          <a:prstGeom prst="ellipse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315968"/>
            <a:ext cx="102412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3293D"/>
                </a:solidFill>
              </a:defRPr>
            </a:pPr>
            <a:r>
              <a:t>Connect current assets, liabilities and other comprehensive income.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92240"/>
            <a:ext cx="7772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54F5C"/>
                </a:solidFill>
              </a:defRPr>
            </a:pPr>
            <a:r>
              <a:t>Source: Coca-Cola Company (KO), SEC FY2025 &amp; FY2023 Form 10-K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373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91B23"/>
                </a:solidFill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91B23"/>
                </a:solidFill>
              </a:defRPr>
            </a:pPr>
            <a:r>
              <a:t>FIVE-YEAR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3293D"/>
                </a:solidFill>
              </a:defRPr>
            </a:pPr>
            <a:r>
              <a:t>Revenue grew; margins varied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933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454F5C"/>
                </a:solidFill>
              </a:defRPr>
            </a:pPr>
            <a:r>
              <a:t>FY2021–FY2025 ($ billions; GAAP)</a:t>
            </a:r>
          </a:p>
        </p:txBody>
      </p:sp>
      <p:sp>
        <p:nvSpPr>
          <p:cNvPr id="6" name="Oval 5"/>
          <p:cNvSpPr/>
          <p:nvPr/>
        </p:nvSpPr>
        <p:spPr>
          <a:xfrm>
            <a:off x="813816" y="2889504"/>
            <a:ext cx="109728" cy="109728"/>
          </a:xfrm>
          <a:prstGeom prst="ellipse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102412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3293D"/>
                </a:solidFill>
              </a:defRPr>
            </a:pPr>
            <a:r>
              <a:t>Revenue: $38.7B → $47.9B (+24% cumulative).</a:t>
            </a:r>
          </a:p>
        </p:txBody>
      </p:sp>
      <p:sp>
        <p:nvSpPr>
          <p:cNvPr id="8" name="Oval 7"/>
          <p:cNvSpPr/>
          <p:nvPr/>
        </p:nvSpPr>
        <p:spPr>
          <a:xfrm>
            <a:off x="813816" y="3675887"/>
            <a:ext cx="109728" cy="109728"/>
          </a:xfrm>
          <a:prstGeom prst="ellipse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29584"/>
            <a:ext cx="102412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3293D"/>
                </a:solidFill>
              </a:defRPr>
            </a:pPr>
            <a:r>
              <a:t>Operating income: $10.3B → $13.8B, with a FY2024 dip.</a:t>
            </a:r>
          </a:p>
        </p:txBody>
      </p:sp>
      <p:sp>
        <p:nvSpPr>
          <p:cNvPr id="10" name="Oval 9"/>
          <p:cNvSpPr/>
          <p:nvPr/>
        </p:nvSpPr>
        <p:spPr>
          <a:xfrm>
            <a:off x="813816" y="4462272"/>
            <a:ext cx="109728" cy="109728"/>
          </a:xfrm>
          <a:prstGeom prst="ellipse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315968"/>
            <a:ext cx="102412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3293D"/>
                </a:solidFill>
              </a:defRPr>
            </a:pPr>
            <a:r>
              <a:t>Operating margin: 26.7% in 2021; 21.2% in 2024; 28.7% in 2025.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92240"/>
            <a:ext cx="7772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54F5C"/>
                </a:solidFill>
              </a:defRPr>
            </a:pPr>
            <a:r>
              <a:t>Source: Coca-Cola Company (KO), SEC FY2025 &amp; FY2023 Form 10-K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373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91B23"/>
                </a:solidFill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91B23"/>
                </a:solidFill>
              </a:defRPr>
            </a:pPr>
            <a:r>
              <a:t>2025 PROFITABILITY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3293D"/>
                </a:solidFill>
              </a:defRPr>
            </a:pPr>
            <a:r>
              <a:t>Revenue +1.9%; other charges eased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933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454F5C"/>
                </a:solidFill>
              </a:defRPr>
            </a:pPr>
            <a:r>
              <a:t>2025 vs. 2024 ($ billions)</a:t>
            </a:r>
          </a:p>
        </p:txBody>
      </p:sp>
      <p:sp>
        <p:nvSpPr>
          <p:cNvPr id="6" name="Oval 5"/>
          <p:cNvSpPr/>
          <p:nvPr/>
        </p:nvSpPr>
        <p:spPr>
          <a:xfrm>
            <a:off x="813816" y="2889504"/>
            <a:ext cx="109728" cy="109728"/>
          </a:xfrm>
          <a:prstGeom prst="ellipse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102412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3293D"/>
                </a:solidFill>
              </a:defRPr>
            </a:pPr>
            <a:r>
              <a:t>Revenue: $47.94B vs. $47.06B.</a:t>
            </a:r>
          </a:p>
        </p:txBody>
      </p:sp>
      <p:sp>
        <p:nvSpPr>
          <p:cNvPr id="8" name="Oval 7"/>
          <p:cNvSpPr/>
          <p:nvPr/>
        </p:nvSpPr>
        <p:spPr>
          <a:xfrm>
            <a:off x="813816" y="3675887"/>
            <a:ext cx="109728" cy="109728"/>
          </a:xfrm>
          <a:prstGeom prst="ellipse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29584"/>
            <a:ext cx="102412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3293D"/>
                </a:solidFill>
              </a:defRPr>
            </a:pPr>
            <a:r>
              <a:t>Operating income: $13.76B vs. $9.99B.</a:t>
            </a:r>
          </a:p>
        </p:txBody>
      </p:sp>
      <p:sp>
        <p:nvSpPr>
          <p:cNvPr id="10" name="Oval 9"/>
          <p:cNvSpPr/>
          <p:nvPr/>
        </p:nvSpPr>
        <p:spPr>
          <a:xfrm>
            <a:off x="813816" y="4462272"/>
            <a:ext cx="109728" cy="109728"/>
          </a:xfrm>
          <a:prstGeom prst="ellipse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315968"/>
            <a:ext cx="102412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3293D"/>
                </a:solidFill>
              </a:defRPr>
            </a:pPr>
            <a:r>
              <a:t>Other operating charges: $1.26B vs. $4.16B.</a:t>
            </a:r>
          </a:p>
        </p:txBody>
      </p:sp>
      <p:sp>
        <p:nvSpPr>
          <p:cNvPr id="12" name="Oval 11"/>
          <p:cNvSpPr/>
          <p:nvPr/>
        </p:nvSpPr>
        <p:spPr>
          <a:xfrm>
            <a:off x="813816" y="5248656"/>
            <a:ext cx="109728" cy="109728"/>
          </a:xfrm>
          <a:prstGeom prst="ellipse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102352"/>
            <a:ext cx="102412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3293D"/>
                </a:solidFill>
              </a:defRPr>
            </a:pPr>
            <a:r>
              <a:t>This is a GAAP presentation; the charge line needs context, not an automatic normalization.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92240"/>
            <a:ext cx="7772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54F5C"/>
                </a:solidFill>
              </a:defRPr>
            </a:pPr>
            <a:r>
              <a:t>Source: Coca-Cola Company (KO), SEC FY2025 &amp; FY2023 Form 10-K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4373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91B23"/>
                </a:solidFill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91B23"/>
                </a:solidFill>
              </a:defRPr>
            </a:pPr>
            <a:r>
              <a:t>CASH CONVERSION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3293D"/>
                </a:solidFill>
              </a:defRPr>
            </a:pPr>
            <a:r>
              <a:t>Net income is not cash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933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454F5C"/>
                </a:solidFill>
              </a:defRPr>
            </a:pPr>
            <a:r>
              <a:t>2025 consolidated earnings compared with cash</a:t>
            </a:r>
          </a:p>
        </p:txBody>
      </p:sp>
      <p:sp>
        <p:nvSpPr>
          <p:cNvPr id="6" name="Oval 5"/>
          <p:cNvSpPr/>
          <p:nvPr/>
        </p:nvSpPr>
        <p:spPr>
          <a:xfrm>
            <a:off x="813816" y="2889504"/>
            <a:ext cx="109728" cy="109728"/>
          </a:xfrm>
          <a:prstGeom prst="ellipse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102412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3293D"/>
                </a:solidFill>
              </a:defRPr>
            </a:pPr>
            <a:r>
              <a:t>Consolidated net income: $13.14B.</a:t>
            </a:r>
          </a:p>
        </p:txBody>
      </p:sp>
      <p:sp>
        <p:nvSpPr>
          <p:cNvPr id="8" name="Oval 7"/>
          <p:cNvSpPr/>
          <p:nvPr/>
        </p:nvSpPr>
        <p:spPr>
          <a:xfrm>
            <a:off x="813816" y="3675887"/>
            <a:ext cx="109728" cy="109728"/>
          </a:xfrm>
          <a:prstGeom prst="ellipse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29584"/>
            <a:ext cx="102412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3293D"/>
                </a:solidFill>
              </a:defRPr>
            </a:pPr>
            <a:r>
              <a:t>Operating cash flow: $7.41B.</a:t>
            </a:r>
          </a:p>
        </p:txBody>
      </p:sp>
      <p:sp>
        <p:nvSpPr>
          <p:cNvPr id="10" name="Oval 9"/>
          <p:cNvSpPr/>
          <p:nvPr/>
        </p:nvSpPr>
        <p:spPr>
          <a:xfrm>
            <a:off x="813816" y="4462272"/>
            <a:ext cx="109728" cy="109728"/>
          </a:xfrm>
          <a:prstGeom prst="ellipse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315968"/>
            <a:ext cx="102412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3293D"/>
                </a:solidFill>
              </a:defRPr>
            </a:pPr>
            <a:r>
              <a:t>Accrual/cash conversion gap: $5.73B (NI minus CFO).</a:t>
            </a:r>
          </a:p>
        </p:txBody>
      </p:sp>
      <p:sp>
        <p:nvSpPr>
          <p:cNvPr id="12" name="Oval 11"/>
          <p:cNvSpPr/>
          <p:nvPr/>
        </p:nvSpPr>
        <p:spPr>
          <a:xfrm>
            <a:off x="813816" y="5248656"/>
            <a:ext cx="109728" cy="109728"/>
          </a:xfrm>
          <a:prstGeom prst="ellipse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102352"/>
            <a:ext cx="102412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3293D"/>
                </a:solidFill>
              </a:defRPr>
            </a:pPr>
            <a:r>
              <a:t>Large unusual cash-related items are critical to interpretation.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92240"/>
            <a:ext cx="7772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54F5C"/>
                </a:solidFill>
              </a:defRPr>
            </a:pPr>
            <a:r>
              <a:t>Source: Coca-Cola Company (KO), SEC FY2025 &amp; FY2023 Form 10-K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4373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91B23"/>
                </a:solidFill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91B23"/>
                </a:solidFill>
              </a:defRPr>
            </a:pPr>
            <a:r>
              <a:t>INDIRECT CFO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3293D"/>
                </a:solidFill>
              </a:defRPr>
            </a:pPr>
            <a:r>
              <a:t>Trace the accounting reconciliation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933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454F5C"/>
                </a:solidFill>
              </a:defRPr>
            </a:pPr>
            <a:r>
              <a:t>2025, USD billions (rounded)</a:t>
            </a:r>
          </a:p>
        </p:txBody>
      </p:sp>
      <p:sp>
        <p:nvSpPr>
          <p:cNvPr id="6" name="Oval 5"/>
          <p:cNvSpPr/>
          <p:nvPr/>
        </p:nvSpPr>
        <p:spPr>
          <a:xfrm>
            <a:off x="813816" y="2889504"/>
            <a:ext cx="109728" cy="109728"/>
          </a:xfrm>
          <a:prstGeom prst="ellipse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102412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3293D"/>
                </a:solidFill>
              </a:defRPr>
            </a:pPr>
            <a:r>
              <a:t>Start with consolidated net income of $13.14B.</a:t>
            </a:r>
          </a:p>
        </p:txBody>
      </p:sp>
      <p:sp>
        <p:nvSpPr>
          <p:cNvPr id="8" name="Oval 7"/>
          <p:cNvSpPr/>
          <p:nvPr/>
        </p:nvSpPr>
        <p:spPr>
          <a:xfrm>
            <a:off x="813816" y="3675887"/>
            <a:ext cx="109728" cy="109728"/>
          </a:xfrm>
          <a:prstGeom prst="ellipse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29584"/>
            <a:ext cx="102412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3293D"/>
                </a:solidFill>
              </a:defRPr>
            </a:pPr>
            <a:r>
              <a:t>Add depreciation, stock compensation, deferred taxes and other adjustment categories.</a:t>
            </a:r>
          </a:p>
        </p:txBody>
      </p:sp>
      <p:sp>
        <p:nvSpPr>
          <p:cNvPr id="10" name="Oval 9"/>
          <p:cNvSpPr/>
          <p:nvPr/>
        </p:nvSpPr>
        <p:spPr>
          <a:xfrm>
            <a:off x="813816" y="4462272"/>
            <a:ext cx="109728" cy="109728"/>
          </a:xfrm>
          <a:prstGeom prst="ellipse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315968"/>
            <a:ext cx="102412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3293D"/>
                </a:solidFill>
              </a:defRPr>
            </a:pPr>
            <a:r>
              <a:t>Reported operating asset/liability change: −$7.21B.</a:t>
            </a:r>
          </a:p>
        </p:txBody>
      </p:sp>
      <p:sp>
        <p:nvSpPr>
          <p:cNvPr id="12" name="Oval 11"/>
          <p:cNvSpPr/>
          <p:nvPr/>
        </p:nvSpPr>
        <p:spPr>
          <a:xfrm>
            <a:off x="813816" y="5248656"/>
            <a:ext cx="109728" cy="109728"/>
          </a:xfrm>
          <a:prstGeom prst="ellipse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102352"/>
            <a:ext cx="102412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3293D"/>
                </a:solidFill>
              </a:defRPr>
            </a:pPr>
            <a:r>
              <a:t>Reported CFO reconciles exactly to $7.41B.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92240"/>
            <a:ext cx="7772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54F5C"/>
                </a:solidFill>
              </a:defRPr>
            </a:pPr>
            <a:r>
              <a:t>Source: Coca-Cola Company (KO), SEC FY2025 &amp; FY2023 Form 10-K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4373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91B23"/>
                </a:solidFill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91B23"/>
                </a:solidFill>
              </a:defRPr>
            </a:pPr>
            <a:r>
              <a:t>ACCOUNTING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3293D"/>
                </a:solidFill>
              </a:defRPr>
            </a:pPr>
            <a:r>
              <a:t>fairlife and the IRS deposit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933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454F5C"/>
                </a:solidFill>
              </a:defRPr>
            </a:pPr>
            <a:r>
              <a:t>Read disclosures, not only ratios</a:t>
            </a:r>
          </a:p>
        </p:txBody>
      </p:sp>
      <p:sp>
        <p:nvSpPr>
          <p:cNvPr id="6" name="Oval 5"/>
          <p:cNvSpPr/>
          <p:nvPr/>
        </p:nvSpPr>
        <p:spPr>
          <a:xfrm>
            <a:off x="813816" y="2889504"/>
            <a:ext cx="109728" cy="109728"/>
          </a:xfrm>
          <a:prstGeom prst="ellipse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102412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3293D"/>
                </a:solidFill>
              </a:defRPr>
            </a:pPr>
            <a:r>
              <a:t>In 2025 the fairlife contingent consideration payment is important for cash flow context.</a:t>
            </a:r>
          </a:p>
        </p:txBody>
      </p:sp>
      <p:sp>
        <p:nvSpPr>
          <p:cNvPr id="8" name="Oval 7"/>
          <p:cNvSpPr/>
          <p:nvPr/>
        </p:nvSpPr>
        <p:spPr>
          <a:xfrm>
            <a:off x="813816" y="3675887"/>
            <a:ext cx="109728" cy="109728"/>
          </a:xfrm>
          <a:prstGeom prst="ellipse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29584"/>
            <a:ext cx="102412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3293D"/>
                </a:solidFill>
              </a:defRPr>
            </a:pPr>
            <a:r>
              <a:t>In 2024 the IRS tax-litigation deposit materially affected operating cash.</a:t>
            </a:r>
          </a:p>
        </p:txBody>
      </p:sp>
      <p:sp>
        <p:nvSpPr>
          <p:cNvPr id="10" name="Oval 9"/>
          <p:cNvSpPr/>
          <p:nvPr/>
        </p:nvSpPr>
        <p:spPr>
          <a:xfrm>
            <a:off x="813816" y="4462272"/>
            <a:ext cx="109728" cy="109728"/>
          </a:xfrm>
          <a:prstGeom prst="ellipse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315968"/>
            <a:ext cx="102412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3293D"/>
                </a:solidFill>
              </a:defRPr>
            </a:pPr>
            <a:r>
              <a:t>A low CFO-to-earnings ratio alone does not establish financial misstatement.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92240"/>
            <a:ext cx="7772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54F5C"/>
                </a:solidFill>
              </a:defRPr>
            </a:pPr>
            <a:r>
              <a:t>Source: Coca-Cola Company (KO), SEC FY2025 &amp; FY2023 Form 10-K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373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91B23"/>
                </a:solidFill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91B23"/>
                </a:solidFill>
              </a:defRPr>
            </a:pPr>
            <a:r>
              <a:t>BALANCE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3293D"/>
                </a:solidFill>
              </a:defRPr>
            </a:pPr>
            <a:r>
              <a:t>Liquidity ratios require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933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454F5C"/>
                </a:solidFill>
              </a:defRPr>
            </a:pPr>
            <a:r>
              <a:t>FY2024 vs FY2025 (reported GAAP)</a:t>
            </a:r>
          </a:p>
        </p:txBody>
      </p:sp>
      <p:sp>
        <p:nvSpPr>
          <p:cNvPr id="6" name="Oval 5"/>
          <p:cNvSpPr/>
          <p:nvPr/>
        </p:nvSpPr>
        <p:spPr>
          <a:xfrm>
            <a:off x="813816" y="2889504"/>
            <a:ext cx="109728" cy="109728"/>
          </a:xfrm>
          <a:prstGeom prst="ellipse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102412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3293D"/>
                </a:solidFill>
              </a:defRPr>
            </a:pPr>
            <a:r>
              <a:t>Current assets: $26.00B → $31.04B.</a:t>
            </a:r>
          </a:p>
        </p:txBody>
      </p:sp>
      <p:sp>
        <p:nvSpPr>
          <p:cNvPr id="8" name="Oval 7"/>
          <p:cNvSpPr/>
          <p:nvPr/>
        </p:nvSpPr>
        <p:spPr>
          <a:xfrm>
            <a:off x="813816" y="3675887"/>
            <a:ext cx="109728" cy="109728"/>
          </a:xfrm>
          <a:prstGeom prst="ellipse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29584"/>
            <a:ext cx="102412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3293D"/>
                </a:solidFill>
              </a:defRPr>
            </a:pPr>
            <a:r>
              <a:t>Current liabilities: $25.25B → $21.28B.</a:t>
            </a:r>
          </a:p>
        </p:txBody>
      </p:sp>
      <p:sp>
        <p:nvSpPr>
          <p:cNvPr id="10" name="Oval 9"/>
          <p:cNvSpPr/>
          <p:nvPr/>
        </p:nvSpPr>
        <p:spPr>
          <a:xfrm>
            <a:off x="813816" y="4462272"/>
            <a:ext cx="109728" cy="109728"/>
          </a:xfrm>
          <a:prstGeom prst="ellipse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315968"/>
            <a:ext cx="102412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3293D"/>
                </a:solidFill>
              </a:defRPr>
            </a:pPr>
            <a:r>
              <a:t>Current ratio: 1.03x → 1.46x.</a:t>
            </a:r>
          </a:p>
        </p:txBody>
      </p:sp>
      <p:sp>
        <p:nvSpPr>
          <p:cNvPr id="12" name="Oval 11"/>
          <p:cNvSpPr/>
          <p:nvPr/>
        </p:nvSpPr>
        <p:spPr>
          <a:xfrm>
            <a:off x="813816" y="5248656"/>
            <a:ext cx="109728" cy="109728"/>
          </a:xfrm>
          <a:prstGeom prst="ellipse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102352"/>
            <a:ext cx="102412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3293D"/>
                </a:solidFill>
              </a:defRPr>
            </a:pPr>
            <a:r>
              <a:t>Held-for-sale classifications affect interpretation of these changes.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92240"/>
            <a:ext cx="7772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54F5C"/>
                </a:solidFill>
              </a:defRPr>
            </a:pPr>
            <a:r>
              <a:t>Source: Coca-Cola Company (KO), SEC FY2025 &amp; FY2023 Form 10-K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4373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91B23"/>
                </a:solidFill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91B23"/>
                </a:solidFill>
              </a:defRPr>
            </a:pPr>
            <a:r>
              <a:t>OCI &amp; EQUITY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3293D"/>
                </a:solidFill>
              </a:defRPr>
            </a:pPr>
            <a:r>
              <a:t>Income differs from comprehensive income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933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454F5C"/>
                </a:solidFill>
              </a:defRPr>
            </a:pPr>
            <a:r>
              <a:t>2024 → 2025 FX translation swings</a:t>
            </a:r>
          </a:p>
        </p:txBody>
      </p:sp>
      <p:sp>
        <p:nvSpPr>
          <p:cNvPr id="6" name="Oval 5"/>
          <p:cNvSpPr/>
          <p:nvPr/>
        </p:nvSpPr>
        <p:spPr>
          <a:xfrm>
            <a:off x="813816" y="2889504"/>
            <a:ext cx="109728" cy="109728"/>
          </a:xfrm>
          <a:prstGeom prst="ellipse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102412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3293D"/>
                </a:solidFill>
              </a:defRPr>
            </a:pPr>
            <a:r>
              <a:t>2024 FX translation OCI: −$2.89B.</a:t>
            </a:r>
          </a:p>
        </p:txBody>
      </p:sp>
      <p:sp>
        <p:nvSpPr>
          <p:cNvPr id="8" name="Oval 7"/>
          <p:cNvSpPr/>
          <p:nvPr/>
        </p:nvSpPr>
        <p:spPr>
          <a:xfrm>
            <a:off x="813816" y="3675887"/>
            <a:ext cx="109728" cy="109728"/>
          </a:xfrm>
          <a:prstGeom prst="ellipse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29584"/>
            <a:ext cx="102412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3293D"/>
                </a:solidFill>
              </a:defRPr>
            </a:pPr>
            <a:r>
              <a:t>2025 FX translation OCI: +$2.87B.</a:t>
            </a:r>
          </a:p>
        </p:txBody>
      </p:sp>
      <p:sp>
        <p:nvSpPr>
          <p:cNvPr id="10" name="Oval 9"/>
          <p:cNvSpPr/>
          <p:nvPr/>
        </p:nvSpPr>
        <p:spPr>
          <a:xfrm>
            <a:off x="813816" y="4462272"/>
            <a:ext cx="109728" cy="109728"/>
          </a:xfrm>
          <a:prstGeom prst="ellipse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315968"/>
            <a:ext cx="102412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3293D"/>
                </a:solidFill>
              </a:defRPr>
            </a:pPr>
            <a:r>
              <a:t>These changes illustrate why consolidated net income alone does not explain all equity movements.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92240"/>
            <a:ext cx="7772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54F5C"/>
                </a:solidFill>
              </a:defRPr>
            </a:pPr>
            <a:r>
              <a:t>Source: Coca-Cola Company (KO), SEC FY2025 &amp; FY2023 Form 10-K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373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91B23"/>
                </a:solidFill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91B23"/>
                </a:solidFill>
              </a:defRPr>
            </a:pPr>
            <a:r>
              <a:t>FINAL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3293D"/>
                </a:solidFill>
              </a:defRPr>
            </a:pPr>
            <a:r>
              <a:t>Three accounting lessons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933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454F5C"/>
                </a:solidFill>
              </a:defRPr>
            </a:pPr>
            <a:r>
              <a:t>Public filing analysis • formula-backed workbook • transparent limitations</a:t>
            </a:r>
          </a:p>
        </p:txBody>
      </p:sp>
      <p:sp>
        <p:nvSpPr>
          <p:cNvPr id="6" name="Oval 5"/>
          <p:cNvSpPr/>
          <p:nvPr/>
        </p:nvSpPr>
        <p:spPr>
          <a:xfrm>
            <a:off x="813816" y="2889504"/>
            <a:ext cx="109728" cy="109728"/>
          </a:xfrm>
          <a:prstGeom prst="ellipse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102412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3293D"/>
                </a:solidFill>
              </a:defRPr>
            </a:pPr>
            <a:r>
              <a:t>Reported profit is not necessarily cash received.</a:t>
            </a:r>
          </a:p>
        </p:txBody>
      </p:sp>
      <p:sp>
        <p:nvSpPr>
          <p:cNvPr id="8" name="Oval 7"/>
          <p:cNvSpPr/>
          <p:nvPr/>
        </p:nvSpPr>
        <p:spPr>
          <a:xfrm>
            <a:off x="813816" y="3675887"/>
            <a:ext cx="109728" cy="109728"/>
          </a:xfrm>
          <a:prstGeom prst="ellipse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29584"/>
            <a:ext cx="102412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3293D"/>
                </a:solidFill>
              </a:defRPr>
            </a:pPr>
            <a:r>
              <a:t>Source notes are essential when comparing periods affected by one-time cash events.</a:t>
            </a:r>
          </a:p>
        </p:txBody>
      </p:sp>
      <p:sp>
        <p:nvSpPr>
          <p:cNvPr id="10" name="Oval 9"/>
          <p:cNvSpPr/>
          <p:nvPr/>
        </p:nvSpPr>
        <p:spPr>
          <a:xfrm>
            <a:off x="813816" y="4462272"/>
            <a:ext cx="109728" cy="109728"/>
          </a:xfrm>
          <a:prstGeom prst="ellipse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315968"/>
            <a:ext cx="102412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3293D"/>
                </a:solidFill>
              </a:defRPr>
            </a:pPr>
            <a:r>
              <a:t>Cross-statement reconciliation and proper definitions improve analysis reliability.</a:t>
            </a:r>
          </a:p>
        </p:txBody>
      </p:sp>
      <p:sp>
        <p:nvSpPr>
          <p:cNvPr id="12" name="Oval 11"/>
          <p:cNvSpPr/>
          <p:nvPr/>
        </p:nvSpPr>
        <p:spPr>
          <a:xfrm>
            <a:off x="813816" y="5248656"/>
            <a:ext cx="109728" cy="109728"/>
          </a:xfrm>
          <a:prstGeom prst="ellipse">
            <a:avLst/>
          </a:prstGeom>
          <a:solidFill>
            <a:srgbClr val="B9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102352"/>
            <a:ext cx="102412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3293D"/>
                </a:solidFill>
              </a:defRPr>
            </a:pPr>
            <a:r>
              <a:t>This is a portfolio case study, not an audit or CPA assurance opinion.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92240"/>
            <a:ext cx="7772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54F5C"/>
                </a:solidFill>
              </a:defRPr>
            </a:pPr>
            <a:r>
              <a:t>Source: Coca-Cola Company (KO), SEC FY2025 &amp; FY2023 Form 10-K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4373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91B23"/>
                </a:solidFill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